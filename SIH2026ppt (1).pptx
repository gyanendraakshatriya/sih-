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Arial Black" panose="020B0A04020102020204" pitchFamily="34" charset="0"/>
      <p:bold r:id="rId9"/>
    </p:embeddedFont>
    <p:embeddedFont>
      <p:font typeface="Garamond" panose="02020404030301010803" pitchFamily="18" charset="0"/>
      <p:regular r:id="rId10"/>
      <p:bold r:id="rId11"/>
      <p:italic r:id="rId12"/>
    </p:embeddedFont>
    <p:embeddedFont>
      <p:font typeface="Oswald" panose="020B0604020202020204" charset="0"/>
      <p:regular r:id="rId13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5145"/>
    <a:srgbClr val="F1F9FB"/>
    <a:srgbClr val="F2FAFC"/>
    <a:srgbClr val="A8FABD"/>
    <a:srgbClr val="E9FBEF"/>
    <a:srgbClr val="F3F9F5"/>
    <a:srgbClr val="F4FEFA"/>
    <a:srgbClr val="B7FB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837979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2516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404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2683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6411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585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" name="Google Shape;15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5624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lt1"/>
          </a:fgClr>
          <a:bgClr>
            <a:schemeClr val="bg1"/>
          </a:bgClr>
        </a:patt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6873570" y="110926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7976082" y="1913858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>
            <a:spLocks noGrp="1"/>
          </p:cNvSpPr>
          <p:nvPr>
            <p:ph type="subTitle" idx="1"/>
          </p:nvPr>
        </p:nvSpPr>
        <p:spPr>
          <a:xfrm>
            <a:off x="2023550" y="826723"/>
            <a:ext cx="69561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1767700" y="542425"/>
            <a:ext cx="8407200" cy="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</a:t>
            </a:r>
            <a:endParaRPr sz="4000" b="1" dirty="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HACKATHON 2026</a:t>
            </a:r>
            <a:endParaRPr sz="4000" b="1" dirty="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76973" y="2004923"/>
            <a:ext cx="6837109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  <a:sym typeface="Arial"/>
              </a:rPr>
              <a:t>Problem Statement ID </a:t>
            </a:r>
            <a:r>
              <a:rPr lang="en-US" sz="1800" b="1" dirty="0" smtClean="0">
                <a:solidFill>
                  <a:schemeClr val="dk1"/>
                </a:solidFill>
                <a:sym typeface="Arial"/>
              </a:rPr>
              <a:t>–</a:t>
            </a:r>
            <a:r>
              <a:rPr lang="en-US" sz="1800" b="1" dirty="0" smtClean="0">
                <a:solidFill>
                  <a:schemeClr val="bg2">
                    <a:lumMod val="75000"/>
                  </a:schemeClr>
                </a:solidFill>
              </a:rPr>
              <a:t>SIH26131</a:t>
            </a:r>
            <a:endParaRPr sz="1800" dirty="0">
              <a:solidFill>
                <a:schemeClr val="bg2">
                  <a:lumMod val="75000"/>
                </a:schemeClr>
              </a:solidFill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  <a:sym typeface="Arial"/>
              </a:rPr>
              <a:t>Problem </a:t>
            </a:r>
            <a:r>
              <a:rPr lang="en-US" sz="1800" b="1" dirty="0" smtClean="0">
                <a:solidFill>
                  <a:schemeClr val="dk1"/>
                </a:solidFill>
                <a:sym typeface="Arial"/>
              </a:rPr>
              <a:t>Statement Title-  </a:t>
            </a:r>
            <a:r>
              <a:rPr lang="en-US" sz="1800" b="1" dirty="0" smtClean="0">
                <a:solidFill>
                  <a:schemeClr val="bg2">
                    <a:lumMod val="75000"/>
                  </a:schemeClr>
                </a:solidFill>
              </a:rPr>
              <a:t>Early detection and management of crop diseases and pest infestations</a:t>
            </a:r>
            <a:endParaRPr sz="1800" dirty="0" smtClean="0">
              <a:solidFill>
                <a:schemeClr val="bg2">
                  <a:lumMod val="75000"/>
                </a:schemeClr>
              </a:solidFill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1" dirty="0" smtClean="0">
                <a:solidFill>
                  <a:schemeClr val="dk1"/>
                </a:solidFill>
                <a:sym typeface="Arial"/>
              </a:rPr>
              <a:t>Theme- </a:t>
            </a:r>
            <a:r>
              <a:rPr lang="en-US" sz="1800" b="1" dirty="0" smtClean="0">
                <a:solidFill>
                  <a:schemeClr val="bg2">
                    <a:lumMod val="75000"/>
                  </a:schemeClr>
                </a:solidFill>
              </a:rPr>
              <a:t>Agriculture , </a:t>
            </a:r>
            <a:r>
              <a:rPr lang="en-US" sz="1800" b="1" dirty="0" err="1" smtClean="0">
                <a:solidFill>
                  <a:schemeClr val="bg2">
                    <a:lumMod val="75000"/>
                  </a:schemeClr>
                </a:solidFill>
              </a:rPr>
              <a:t>FoodTech</a:t>
            </a:r>
            <a:r>
              <a:rPr lang="en-US" sz="1800" b="1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sz="1800" b="1" dirty="0" smtClean="0">
                <a:solidFill>
                  <a:schemeClr val="bg2">
                    <a:lumMod val="75000"/>
                  </a:schemeClr>
                </a:solidFill>
              </a:rPr>
              <a:t>&amp; Rural Development </a:t>
            </a:r>
            <a:endParaRPr sz="1800" dirty="0" smtClean="0">
              <a:solidFill>
                <a:schemeClr val="bg2">
                  <a:lumMod val="75000"/>
                </a:schemeClr>
              </a:solidFill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1" dirty="0" smtClean="0">
                <a:solidFill>
                  <a:schemeClr val="dk1"/>
                </a:solidFill>
                <a:sym typeface="Arial"/>
              </a:rPr>
              <a:t>PS Category- </a:t>
            </a:r>
            <a:r>
              <a:rPr lang="en-US" sz="1800" b="1" dirty="0" smtClean="0">
                <a:solidFill>
                  <a:schemeClr val="bg2">
                    <a:lumMod val="75000"/>
                  </a:schemeClr>
                </a:solidFill>
                <a:sym typeface="Arial"/>
              </a:rPr>
              <a:t>Software</a:t>
            </a:r>
            <a:endParaRPr sz="1800" dirty="0" smtClean="0">
              <a:solidFill>
                <a:schemeClr val="bg2">
                  <a:lumMod val="75000"/>
                </a:schemeClr>
              </a:solidFill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1" dirty="0" smtClean="0">
                <a:solidFill>
                  <a:schemeClr val="dk1"/>
                </a:solidFill>
                <a:sym typeface="Arial"/>
              </a:rPr>
              <a:t>Team </a:t>
            </a:r>
            <a:r>
              <a:rPr lang="en-US" sz="1800" b="1" dirty="0" smtClean="0">
                <a:solidFill>
                  <a:schemeClr val="dk1"/>
                </a:solidFill>
                <a:sym typeface="Arial"/>
              </a:rPr>
              <a:t>ID-</a:t>
            </a:r>
            <a:r>
              <a:rPr lang="en-US" sz="1800" b="1" dirty="0" smtClean="0">
                <a:solidFill>
                  <a:srgbClr val="002060"/>
                </a:solidFill>
                <a:sym typeface="Arial"/>
              </a:rPr>
              <a:t>125796</a:t>
            </a:r>
            <a:endParaRPr lang="en-US" sz="1800" b="1" dirty="0" smtClean="0">
              <a:solidFill>
                <a:srgbClr val="002060"/>
              </a:solidFill>
              <a:sym typeface="Arial"/>
            </a:endParaRPr>
          </a:p>
          <a:p>
            <a:pPr marL="285750" lvl="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</a:rPr>
              <a:t> Team Name </a:t>
            </a:r>
            <a:r>
              <a:rPr lang="en-US" sz="1800" b="1" dirty="0" smtClean="0">
                <a:solidFill>
                  <a:schemeClr val="dk1"/>
                </a:solidFill>
              </a:rPr>
              <a:t>–</a:t>
            </a:r>
            <a:r>
              <a:rPr lang="en-US" sz="1800" b="1" dirty="0" smtClean="0">
                <a:solidFill>
                  <a:schemeClr val="bg2">
                    <a:lumMod val="75000"/>
                  </a:schemeClr>
                </a:solidFill>
              </a:rPr>
              <a:t>SIH Beginners</a:t>
            </a:r>
            <a:endParaRPr sz="18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502"/>
            <a:ext cx="2475501" cy="99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>
            <a:spLocks noGrp="1"/>
          </p:cNvSpPr>
          <p:nvPr>
            <p:ph type="title"/>
          </p:nvPr>
        </p:nvSpPr>
        <p:spPr>
          <a:xfrm>
            <a:off x="1013321" y="1427823"/>
            <a:ext cx="10359018" cy="70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smtClean="0">
                <a:solidFill>
                  <a:srgbClr val="025145"/>
                </a:solidFill>
                <a:latin typeface="+mn-lt"/>
                <a:cs typeface="Times New Roman" panose="02020603050405020304" pitchFamily="18" charset="0"/>
              </a:rPr>
              <a:t>AI powered crop health &amp; Early warning system</a:t>
            </a:r>
            <a:r>
              <a:rPr lang="en-US" sz="1600" b="1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b="1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web based platform that helps farmers detect crop diseases and pest infestations early using image analysis and provides actionable guidance for management</a:t>
            </a:r>
            <a:endParaRPr sz="16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3873371" y="800244"/>
            <a:ext cx="5673738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</a:pP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sym typeface="Arial"/>
              </a:rPr>
              <a:t>PROPOSED SOLUTION</a:t>
            </a:r>
            <a:endParaRPr lang="en-US" sz="3200" dirty="0" smtClean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sym typeface="Arial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u="sng" dirty="0" smtClean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28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</p:txBody>
      </p:sp>
      <p:sp>
        <p:nvSpPr>
          <p:cNvPr id="104" name="Google Shape;104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 dirty="0">
              <a:solidFill>
                <a:schemeClr val="lt1"/>
              </a:solidFill>
            </a:endParaRPr>
          </a:p>
        </p:txBody>
      </p:sp>
      <p:sp>
        <p:nvSpPr>
          <p:cNvPr id="106" name="Google Shape;106;p14" descr="Your startup LOGO"/>
          <p:cNvSpPr/>
          <p:nvPr/>
        </p:nvSpPr>
        <p:spPr>
          <a:xfrm>
            <a:off x="5203197" y="129009"/>
            <a:ext cx="2539706" cy="66276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SIH Beginners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47109" y="-4164"/>
            <a:ext cx="2249851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6564"/>
            <a:ext cx="2475501" cy="99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/>
          <a:srcRect l="2174" t="16726" r="50260" b="59146"/>
          <a:stretch/>
        </p:blipFill>
        <p:spPr>
          <a:xfrm>
            <a:off x="339819" y="2564148"/>
            <a:ext cx="7251065" cy="24520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/>
          <a:srcRect l="52500" t="16476" r="28021" b="59657"/>
          <a:stretch/>
        </p:blipFill>
        <p:spPr>
          <a:xfrm>
            <a:off x="7976152" y="2346195"/>
            <a:ext cx="3396187" cy="26834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1" t="41505" r="39868" b="47957"/>
          <a:stretch/>
        </p:blipFill>
        <p:spPr>
          <a:xfrm>
            <a:off x="275692" y="5461650"/>
            <a:ext cx="10616053" cy="13070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60" t="21878" r="25192" b="21476"/>
          <a:stretch/>
        </p:blipFill>
        <p:spPr>
          <a:xfrm>
            <a:off x="10891745" y="5556361"/>
            <a:ext cx="1300255" cy="11820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9F5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8" name="Google Shape;118;p1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</a:endParaRPr>
          </a:p>
        </p:txBody>
      </p:sp>
      <p:sp>
        <p:nvSpPr>
          <p:cNvPr id="119" name="Google Shape;119;p15" descr="Your startup LOGO"/>
          <p:cNvSpPr/>
          <p:nvPr/>
        </p:nvSpPr>
        <p:spPr>
          <a:xfrm>
            <a:off x="5145978" y="36564"/>
            <a:ext cx="2228216" cy="792845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SIH Beginners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6564"/>
            <a:ext cx="2475501" cy="9921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AutoShape 4" descr="blob:https://web.whatsapp.com/d7088fef-ba10-407f-8563-49d6a4a8c31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225385" y="934806"/>
            <a:ext cx="5572110" cy="584775"/>
          </a:xfrm>
          <a:prstGeom prst="rect">
            <a:avLst/>
          </a:prstGeom>
          <a:solidFill>
            <a:srgbClr val="025145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sz="32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60" t="21878" r="25192" b="21476"/>
          <a:stretch/>
        </p:blipFill>
        <p:spPr>
          <a:xfrm>
            <a:off x="10891745" y="5556361"/>
            <a:ext cx="1300255" cy="118205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37" b="39352"/>
          <a:stretch/>
        </p:blipFill>
        <p:spPr>
          <a:xfrm>
            <a:off x="587863" y="1689350"/>
            <a:ext cx="10797892" cy="244239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4" t="69127" r="24273" b="9844"/>
          <a:stretch/>
        </p:blipFill>
        <p:spPr>
          <a:xfrm>
            <a:off x="947560" y="5079326"/>
            <a:ext cx="9212440" cy="1551918"/>
          </a:xfrm>
          <a:prstGeom prst="rect">
            <a:avLst/>
          </a:prstGeom>
        </p:spPr>
      </p:pic>
      <p:sp>
        <p:nvSpPr>
          <p:cNvPr id="6" name="Pentagon 5"/>
          <p:cNvSpPr/>
          <p:nvPr/>
        </p:nvSpPr>
        <p:spPr>
          <a:xfrm rot="10800000">
            <a:off x="812996" y="4365942"/>
            <a:ext cx="3049741" cy="547309"/>
          </a:xfrm>
          <a:prstGeom prst="homePlate">
            <a:avLst/>
          </a:prstGeom>
          <a:solidFill>
            <a:srgbClr val="02514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0375" y="4297816"/>
            <a:ext cx="777375" cy="678426"/>
          </a:xfrm>
          <a:prstGeom prst="ellipse">
            <a:avLst/>
          </a:prstGeom>
          <a:solidFill>
            <a:srgbClr val="0251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" t="63164" r="94067" b="31981"/>
          <a:stretch/>
        </p:blipFill>
        <p:spPr>
          <a:xfrm>
            <a:off x="587863" y="4398378"/>
            <a:ext cx="428973" cy="459614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3556853" y="4350411"/>
            <a:ext cx="611768" cy="573237"/>
          </a:xfrm>
          <a:prstGeom prst="ellipse">
            <a:avLst/>
          </a:prstGeom>
          <a:solidFill>
            <a:srgbClr val="0251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954157" y="4418994"/>
            <a:ext cx="2760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  <a:latin typeface="+mj-lt"/>
              </a:rPr>
              <a:t>Technology used</a:t>
            </a:r>
            <a:endParaRPr lang="en-US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63015" y="1001559"/>
            <a:ext cx="4647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TECHNICAL APPROACH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1" name="Google Shape;131;p1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2" name="Google Shape;132;p16" descr="Your startup LOGO"/>
          <p:cNvSpPr/>
          <p:nvPr/>
        </p:nvSpPr>
        <p:spPr>
          <a:xfrm>
            <a:off x="5190221" y="92431"/>
            <a:ext cx="2301959" cy="659158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lang="en-US" sz="1800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SIH 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Beginners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6564"/>
            <a:ext cx="2475501" cy="9921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AutoShape 2" descr="blob:https://web.whatsapp.com/e8be3b7e-3e16-4a9b-8408-58552b0c167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44514" y="961651"/>
            <a:ext cx="10529366" cy="707886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" t="62365" r="70342" b="18495"/>
          <a:stretch/>
        </p:blipFill>
        <p:spPr>
          <a:xfrm>
            <a:off x="229333" y="2063830"/>
            <a:ext cx="5696527" cy="263432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96" t="62164" r="34963" b="18969"/>
          <a:stretch/>
        </p:blipFill>
        <p:spPr>
          <a:xfrm>
            <a:off x="6109197" y="2062732"/>
            <a:ext cx="5626060" cy="263652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6"/>
          <a:srcRect l="2544" t="81915" r="32615" b="3773"/>
          <a:stretch/>
        </p:blipFill>
        <p:spPr>
          <a:xfrm>
            <a:off x="372794" y="5118904"/>
            <a:ext cx="10890967" cy="1602574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97" t="25056" r="31605" b="26604"/>
          <a:stretch/>
        </p:blipFill>
        <p:spPr>
          <a:xfrm rot="1997251">
            <a:off x="10963759" y="5691599"/>
            <a:ext cx="1025887" cy="10440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>
            <a:spLocks noGrp="1"/>
          </p:cNvSpPr>
          <p:nvPr>
            <p:ph type="sldNum" idx="12"/>
          </p:nvPr>
        </p:nvSpPr>
        <p:spPr>
          <a:xfrm>
            <a:off x="8505653" y="529194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4" name="Google Shape;144;p17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5" name="Google Shape;145;p17" descr="Your startup LOGO"/>
          <p:cNvSpPr/>
          <p:nvPr/>
        </p:nvSpPr>
        <p:spPr>
          <a:xfrm>
            <a:off x="5190222" y="129009"/>
            <a:ext cx="2124978" cy="785391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lang="en-US" sz="1800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SIH 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Beginners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6564"/>
            <a:ext cx="2475501" cy="99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/>
          <a:srcRect l="1241" t="18200" r="70462" b="19577"/>
          <a:stretch/>
        </p:blipFill>
        <p:spPr>
          <a:xfrm>
            <a:off x="275715" y="2101015"/>
            <a:ext cx="3151816" cy="46204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/>
          <a:srcRect l="30637" t="17447" r="31677" b="17705"/>
          <a:stretch/>
        </p:blipFill>
        <p:spPr>
          <a:xfrm>
            <a:off x="3676300" y="2010631"/>
            <a:ext cx="4414629" cy="471084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/>
          <a:srcRect l="69711" t="17931" r="1140" b="19290"/>
          <a:stretch/>
        </p:blipFill>
        <p:spPr>
          <a:xfrm>
            <a:off x="8349241" y="2038858"/>
            <a:ext cx="3298922" cy="4682620"/>
          </a:xfrm>
          <a:prstGeom prst="rect">
            <a:avLst/>
          </a:prstGeom>
        </p:spPr>
      </p:pic>
      <p:sp>
        <p:nvSpPr>
          <p:cNvPr id="12" name="Right Arrow 11"/>
          <p:cNvSpPr/>
          <p:nvPr/>
        </p:nvSpPr>
        <p:spPr>
          <a:xfrm>
            <a:off x="3191469" y="4289753"/>
            <a:ext cx="655320" cy="518160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/>
          <p:cNvSpPr/>
          <p:nvPr/>
        </p:nvSpPr>
        <p:spPr>
          <a:xfrm>
            <a:off x="8012038" y="4343901"/>
            <a:ext cx="493615" cy="464012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904157" y="1028739"/>
            <a:ext cx="6447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 smtClean="0">
                <a:latin typeface="Arial Black" panose="020B0A04020102020204" pitchFamily="34" charset="0"/>
              </a:rPr>
              <a:t>IMPACTS AND BENEFITS</a:t>
            </a:r>
            <a:endParaRPr lang="en-US" sz="3600" b="1" u="sng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 txBox="1">
            <a:spLocks noGrp="1"/>
          </p:cNvSpPr>
          <p:nvPr>
            <p:ph type="title"/>
          </p:nvPr>
        </p:nvSpPr>
        <p:spPr>
          <a:xfrm>
            <a:off x="609600" y="88526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dirty="0"/>
          </a:p>
        </p:txBody>
      </p:sp>
      <p:sp>
        <p:nvSpPr>
          <p:cNvPr id="156" name="Google Shape;156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8" name="Google Shape;158;p18" descr="Your startup LOGO"/>
          <p:cNvSpPr/>
          <p:nvPr/>
        </p:nvSpPr>
        <p:spPr>
          <a:xfrm>
            <a:off x="5190222" y="129009"/>
            <a:ext cx="1977493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6564"/>
            <a:ext cx="2475501" cy="99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5"/>
          <a:srcRect l="2645" t="26044" r="40222" b="43901"/>
          <a:stretch/>
        </p:blipFill>
        <p:spPr>
          <a:xfrm>
            <a:off x="117987" y="2876972"/>
            <a:ext cx="6623212" cy="195992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909577" y="2014491"/>
            <a:ext cx="434094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r>
              <a:rPr lang="en-US" dirty="0"/>
              <a:t>. Research &amp; Datasets:</a:t>
            </a:r>
          </a:p>
          <a:p>
            <a:r>
              <a:rPr lang="en-US" dirty="0"/>
              <a:t>   • </a:t>
            </a:r>
            <a:r>
              <a:rPr lang="en-US" dirty="0" err="1"/>
              <a:t>PlantVillage</a:t>
            </a:r>
            <a:r>
              <a:rPr lang="en-US" dirty="0"/>
              <a:t> &amp; ICAR Datasets: Used for training computer vision models for crop leaf disease detection.</a:t>
            </a:r>
          </a:p>
          <a:p>
            <a:r>
              <a:rPr lang="en-US" dirty="0"/>
              <a:t>   • IEEE / Springer Literature: Standard CNN/Vision Transformer architectures for early pest infestation classification.</a:t>
            </a:r>
          </a:p>
          <a:p>
            <a:r>
              <a:rPr lang="en-US" dirty="0"/>
              <a:t>   • Open-</a:t>
            </a:r>
            <a:r>
              <a:rPr lang="en-US" dirty="0" err="1"/>
              <a:t>Meteo</a:t>
            </a:r>
            <a:r>
              <a:rPr lang="en-US" dirty="0"/>
              <a:t> &amp; ISRO </a:t>
            </a:r>
            <a:r>
              <a:rPr lang="en-US" dirty="0" err="1"/>
              <a:t>Bhuvan</a:t>
            </a:r>
            <a:r>
              <a:rPr lang="en-US" dirty="0"/>
              <a:t> API: Agro-climatic data for predictive pest outbreak modeling.</a:t>
            </a:r>
          </a:p>
          <a:p>
            <a:endParaRPr lang="en-US" dirty="0"/>
          </a:p>
          <a:p>
            <a:r>
              <a:rPr lang="en-US" dirty="0"/>
              <a:t>2. Competitive Analysis &amp; Unique Differentiator:</a:t>
            </a:r>
          </a:p>
          <a:p>
            <a:r>
              <a:rPr lang="en-US" dirty="0"/>
              <a:t>   • Benchmark Apps: </a:t>
            </a:r>
            <a:r>
              <a:rPr lang="en-US" dirty="0" err="1"/>
              <a:t>Plantix</a:t>
            </a:r>
            <a:r>
              <a:rPr lang="en-US" dirty="0"/>
              <a:t>, </a:t>
            </a:r>
            <a:r>
              <a:rPr lang="en-US" dirty="0" err="1"/>
              <a:t>Agrio</a:t>
            </a:r>
            <a:r>
              <a:rPr lang="en-US" dirty="0"/>
              <a:t>.</a:t>
            </a:r>
          </a:p>
          <a:p>
            <a:r>
              <a:rPr lang="en-US" dirty="0"/>
              <a:t>   • Our Key Advantage: Offline-first image inference, localized pest alerts in Marathi, and direct integration with local Agriculture Department advisories.</a:t>
            </a:r>
          </a:p>
          <a:p>
            <a:endParaRPr lang="en-US" dirty="0"/>
          </a:p>
          <a:p>
            <a:r>
              <a:rPr lang="en-US" dirty="0"/>
              <a:t>3. Government &amp; Policy Alignment:</a:t>
            </a:r>
          </a:p>
          <a:p>
            <a:r>
              <a:rPr lang="en-US" dirty="0"/>
              <a:t>   • Aligned with Digital Agriculture Mission (Government of India/Maharashtra).</a:t>
            </a:r>
          </a:p>
          <a:p>
            <a:r>
              <a:rPr lang="en-US" dirty="0"/>
              <a:t>   • Supports UN Sustainable Development Goal (SDG 2: Zero Hunger &amp; Sustainable Agriculture).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25897" y="418537"/>
            <a:ext cx="1741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SIH Beginners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222</Words>
  <Application>Microsoft Office PowerPoint</Application>
  <PresentationFormat>Widescreen</PresentationFormat>
  <Paragraphs>49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Black</vt:lpstr>
      <vt:lpstr>Garamond</vt:lpstr>
      <vt:lpstr>Oswald</vt:lpstr>
      <vt:lpstr>Calibri</vt:lpstr>
      <vt:lpstr>Times New Roman</vt:lpstr>
      <vt:lpstr>Office Theme</vt:lpstr>
      <vt:lpstr>SMART INDIA  HACKATHON 2026</vt:lpstr>
      <vt:lpstr>AI powered crop health &amp; Early warning system a web based platform that helps farmers detect crop diseases and pest infestations early using image analysis and provides actionable guidance for management</vt:lpstr>
      <vt:lpstr>PowerPoint Presentation</vt:lpstr>
      <vt:lpstr>PowerPoint Presentation</vt:lpstr>
      <vt:lpstr>PowerPoint Presentation</vt:lpstr>
      <vt:lpstr>RESEARCH  AND 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 HACKATHON 2026</dc:title>
  <dc:creator>Shweta Kushwaha</dc:creator>
  <cp:lastModifiedBy>Shweta Kushwaha</cp:lastModifiedBy>
  <cp:revision>45</cp:revision>
  <dcterms:modified xsi:type="dcterms:W3CDTF">2026-09-25T15:00:39Z</dcterms:modified>
</cp:coreProperties>
</file>